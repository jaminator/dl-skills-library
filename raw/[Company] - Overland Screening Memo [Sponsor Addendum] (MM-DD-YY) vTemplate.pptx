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7"/>
  </p:notesMasterIdLst>
  <p:sldIdLst>
    <p:sldId id="258" r:id="rId6"/>
    <p:sldId id="261" r:id="rId7"/>
    <p:sldId id="301" r:id="rId8"/>
    <p:sldId id="302" r:id="rId9"/>
    <p:sldId id="285" r:id="rId10"/>
    <p:sldId id="290" r:id="rId11"/>
    <p:sldId id="291" r:id="rId12"/>
    <p:sldId id="292" r:id="rId13"/>
    <p:sldId id="293" r:id="rId14"/>
    <p:sldId id="294" r:id="rId15"/>
    <p:sldId id="298" r:id="rId16"/>
  </p:sldIdLst>
  <p:sldSz cx="9144000" cy="6858000" type="screen4x3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E1E9A-26A6-4FA1-99C4-0664B69EF4FE}" v="2" dt="2026-02-11T14:17:29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BEC8919-A1C1-4622-9E34-88F50E5B43A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0FB2E5-DC4D-44E7-A52C-0F4481F4F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4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15BE73-4B88-1872-43A6-7E53734C2C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4C85B7-CBCC-7319-BCCC-8A894DEE7E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06AF78C-0E94-9B5F-7278-FE1960E5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924300"/>
            <a:ext cx="9144000" cy="803214"/>
          </a:xfrm>
        </p:spPr>
        <p:txBody>
          <a:bodyPr anchor="t"/>
          <a:lstStyle>
            <a:lvl1pPr algn="ctr">
              <a:defRPr sz="12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F88317-6213-85E8-3F28-113EE058A4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99932" y="4727514"/>
            <a:ext cx="2744136" cy="365760"/>
          </a:xfrm>
        </p:spPr>
        <p:txBody>
          <a:bodyPr/>
          <a:lstStyle>
            <a:lvl1pPr>
              <a:defRPr sz="7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pic>
        <p:nvPicPr>
          <p:cNvPr id="3" name="Picture 2" descr="A logo with text overlay&#10;&#10;Description automatically generated">
            <a:extLst>
              <a:ext uri="{FF2B5EF4-FFF2-40B4-BE49-F238E27FC236}">
                <a16:creationId xmlns:a16="http://schemas.microsoft.com/office/drawing/2014/main" id="{558E592B-D1E3-8829-4809-EE5792139B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637" y="2701987"/>
            <a:ext cx="4612726" cy="1298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15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52355D65-5EAF-6CF0-FA83-980A0088156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A65C5-D00E-0F23-6E73-72557640A2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F689E104-8898-B358-6F59-8824CE153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6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7CEC95-FB86-D4FD-C48B-98874AFBBB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436FD-FED1-9C18-42FC-D4E0ED4F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3200400"/>
            <a:ext cx="7344294" cy="457200"/>
          </a:xfrm>
        </p:spPr>
        <p:txBody>
          <a:bodyPr/>
          <a:lstStyle>
            <a:lvl1pPr>
              <a:defRPr sz="3200"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2FFEAA-3EB4-5A62-86FC-6A90B70E78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3799" y="3200400"/>
            <a:ext cx="685800" cy="457200"/>
          </a:xfrm>
        </p:spPr>
        <p:txBody>
          <a:bodyPr anchor="ctr"/>
          <a:lstStyle>
            <a:lvl1pPr algn="ctr">
              <a:defRPr sz="4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114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891540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B93B5E-E854-BE3E-461D-3974242E2BF4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44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079F-0130-BC71-C07C-747E8CFD0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C6FEF-3EAA-3F2F-F517-4F2B20A4D24C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0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27843" y="639868"/>
            <a:ext cx="612648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5F2190-4FE8-CEC2-840B-B98FEEA7BC87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7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27843" y="868468"/>
            <a:ext cx="612648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E8A1F-E0BF-B4DC-7B4C-1C4C14A58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77268B-4DB1-B914-4835-07ED553854D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5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868468"/>
            <a:ext cx="612648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E8A1F-E0BF-B4DC-7B4C-1C4C14A58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160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77268B-4DB1-B914-4835-07ED553854D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68E2AC88-32FD-3FCF-15FC-8C1DB435599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123" y="868468"/>
            <a:ext cx="2743200" cy="5303732"/>
          </a:xfrm>
        </p:spPr>
        <p:txBody>
          <a:bodyPr l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68E523-D558-23EB-BA53-D5EF5482C6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123" y="639868"/>
            <a:ext cx="2743200" cy="228600"/>
          </a:xfrm>
        </p:spPr>
        <p:txBody>
          <a:bodyPr lIns="45720"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768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32788-3A2D-2F85-8FA8-598A544D9B36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4E4A240-9A04-4E03-2F13-E17F4387DC2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0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27432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27432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4E4A240-9A04-4E03-2F13-E17F4387DC2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06FAB14A-5A48-0066-1539-99B0CCBC88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5DDFD02-BED6-2C49-5326-D3AC04BD4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30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27432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27432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06FAB14A-5A48-0066-1539-99B0CCBC88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5DDFD02-BED6-2C49-5326-D3AC04BD4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86768887-AD19-D575-7C79-1892E482B32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D0E0B0-27BE-C4CC-1771-CAECEF38F1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7160" y="3429000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0869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01FE264-54E8-D1F0-9E36-8BC60FE4F9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160" y="3429000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90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443484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19611" y="639868"/>
            <a:ext cx="443484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E56269-BB2A-FAC3-55EA-3FCA3F0BE169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859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C4912-C765-9695-52A7-04F10919E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12F2A9D-6CE3-5305-300A-D56DC1BD54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9611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8FE180A0-4548-F9F5-CE3D-F2CD8F2A76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443484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C01DFEB-B2F9-95E0-68E9-EA0E9477009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19611" y="868468"/>
            <a:ext cx="443484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B3605-3416-5DC6-CD20-EE32F5DB52D5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99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2117782-023A-A05B-934A-57D3DAFFF6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639868"/>
            <a:ext cx="612648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33B4D0DA-DCB2-CD6D-3DCE-930D698044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3429000"/>
            <a:ext cx="612648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4C1AC3-A91F-22E9-6732-A263457FA823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695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2117782-023A-A05B-934A-57D3DAFFF6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33B4D0DA-DCB2-CD6D-3DCE-930D698044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3657600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880A17F-A353-CF73-E12D-2FAF37217F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E87AA2-0B10-FE93-91C4-4215B03B6E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7843" y="3429000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DEAB21-DFD1-DBCC-BB49-45707676079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100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4B0D74-C4BF-1906-32E2-E6C31B411A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9371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52524-70C9-F1C7-2400-4E2EAAA27C23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727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6126480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88C9B1-2934-2903-473A-4659D9D10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15BAE0-A50C-3BE1-A7F3-8334BFFB3BFE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759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F4DB20CB-F5DD-147C-F535-6BBF72333F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11" y="639868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1C74D0E-7367-4A9F-6EFA-CA83C6A209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9611" y="3429000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CCE7E7-B452-3126-BEB1-B17D4B2CB847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73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F4DB20CB-F5DD-147C-F535-6BBF72333F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11" y="868468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1C74D0E-7367-4A9F-6EFA-CA83C6A209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9611" y="3657600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22BBEEC-214F-BBCC-7CCB-0C8D8E27F5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160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72273F7-DA9F-B057-71C5-BCA95D3D49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9611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38716C-7B3E-FD60-D1B3-CD3A39F8E5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7160" y="3429000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4690B2D-8546-783B-DCFD-F2BE66C73A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19611" y="3429000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BA6A60-E23C-3F69-7C9C-0276AFBA3F6F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449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63986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63986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42878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42878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CAE4EA-4A09-4085-5931-12E97239B461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607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88C9B1-2934-2903-473A-4659D9D10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4B0D74-C4BF-1906-32E2-E6C31B411A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9371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276456-FE60-22C2-158A-077351D78F76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52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" y="640080"/>
            <a:ext cx="8915400" cy="594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logo with text overlay&#10;&#10;Description automatically generated">
            <a:extLst>
              <a:ext uri="{FF2B5EF4-FFF2-40B4-BE49-F238E27FC236}">
                <a16:creationId xmlns:a16="http://schemas.microsoft.com/office/drawing/2014/main" id="{BF62AD6A-3CAC-1AD2-E784-9B4D19DE4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" t="20515" r="58240" b="21794"/>
          <a:stretch/>
        </p:blipFill>
        <p:spPr>
          <a:xfrm>
            <a:off x="137160" y="6630036"/>
            <a:ext cx="403597" cy="18288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F7932A7-CFFC-FB15-57EA-8CAE0EBA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312ED50-5FB9-E7DC-3EE4-2C463939E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0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61" r:id="rId3"/>
    <p:sldLayoutId id="2147483666" r:id="rId4"/>
    <p:sldLayoutId id="2147483675" r:id="rId5"/>
    <p:sldLayoutId id="2147483676" r:id="rId6"/>
    <p:sldLayoutId id="2147483686" r:id="rId7"/>
    <p:sldLayoutId id="2147483664" r:id="rId8"/>
    <p:sldLayoutId id="2147483683" r:id="rId9"/>
    <p:sldLayoutId id="2147483684" r:id="rId10"/>
    <p:sldLayoutId id="2147483685" r:id="rId11"/>
    <p:sldLayoutId id="2147483667" r:id="rId12"/>
    <p:sldLayoutId id="2147483663" r:id="rId13"/>
    <p:sldLayoutId id="2147483668" r:id="rId14"/>
    <p:sldLayoutId id="2147483677" r:id="rId15"/>
    <p:sldLayoutId id="2147483678" r:id="rId16"/>
    <p:sldLayoutId id="2147483681" r:id="rId17"/>
    <p:sldLayoutId id="2147483682" r:id="rId18"/>
    <p:sldLayoutId id="2147483673" r:id="rId19"/>
    <p:sldLayoutId id="2147483674" r:id="rId20"/>
    <p:sldLayoutId id="2147483671" r:id="rId21"/>
    <p:sldLayoutId id="2147483672" r:id="rId22"/>
  </p:sldLayoutIdLst>
  <p:hf hdr="0" dt="0"/>
  <p:txStyles>
    <p:titleStyle>
      <a:lvl1pPr algn="l" defTabSz="914332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66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34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00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731466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06C5-B8D0-5287-FE4B-F5BE1847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924300"/>
            <a:ext cx="9144000" cy="803214"/>
          </a:xfrm>
        </p:spPr>
        <p:txBody>
          <a:bodyPr/>
          <a:lstStyle/>
          <a:p>
            <a:r>
              <a:rPr lang="en-US" dirty="0"/>
              <a:t>[Company Name]</a:t>
            </a:r>
            <a:br>
              <a:rPr lang="en-US" dirty="0"/>
            </a:br>
            <a:r>
              <a:rPr lang="en-US" dirty="0"/>
              <a:t>Overland IC Screening Memo Sponsor [A] Addendum</a:t>
            </a:r>
            <a:br>
              <a:rPr lang="en-US" dirty="0"/>
            </a:br>
            <a:r>
              <a:rPr lang="en-US" dirty="0"/>
              <a:t>[Month D, YYYY]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A31CE-4BC0-A33D-2FAF-9B93604EF3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99932" y="4727514"/>
            <a:ext cx="2744136" cy="365760"/>
          </a:xfrm>
        </p:spPr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6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1F0A-6B9C-56AB-BB60-E2CD211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11447-BD7C-2FA8-F35D-BE7FAC174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0EF49-0C31-1AB7-2335-3D80B7D381B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00447-A782-3158-502F-38A7DF1DC6A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1050" b="1" dirty="0">
                <a:solidFill>
                  <a:schemeClr val="accent2"/>
                </a:solidFill>
              </a:rPr>
              <a:t>Situation Overview</a:t>
            </a:r>
          </a:p>
          <a:p>
            <a:r>
              <a:rPr lang="en-US" dirty="0"/>
              <a:t>Sponsor [A] solicited Wells Fargo (“WF”) and Overland proposals to support its [Leveraged Buyout] of [Company]. [Situational or relationship context, as relevant]. </a:t>
            </a:r>
          </a:p>
          <a:p>
            <a:r>
              <a:rPr lang="en-US" dirty="0"/>
              <a:t>WF and Overland provided an indicative financing read on [Month], [DD]. [Sponsor A] is now requesting [revised / IC vetted / grid responses] ahead of its [Month], [DD] bid date. </a:t>
            </a:r>
          </a:p>
          <a:p>
            <a:endParaRPr lang="en-US" dirty="0"/>
          </a:p>
          <a:p>
            <a:r>
              <a:rPr lang="en-US" dirty="0"/>
              <a:t>Following the [Month], [DD] bid date, Overland expects to continue diligence alongside Sponsor [A], including access to third-party work as outlined herein. See </a:t>
            </a:r>
            <a:r>
              <a:rPr lang="en-US" i="1" dirty="0"/>
              <a:t>Third-Party &amp; Distressed Sale Value Sensitivity </a:t>
            </a:r>
            <a:r>
              <a:rPr lang="en-US" dirty="0"/>
              <a:t>for additional detail. </a:t>
            </a:r>
          </a:p>
          <a:p>
            <a:endParaRPr lang="en-US" i="1" dirty="0"/>
          </a:p>
          <a:p>
            <a:r>
              <a:rPr lang="en-US" dirty="0"/>
              <a:t>Overland is currently [working through diligence] with the Sponsor for a new $[000.0]MM [First / Split / Second] Lien Facility thru [0.00]x SNL / [0.00]x TNL, including 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$[000.0]MM [ABL] Revolver ($[00.0]MM funded on the Closing Date) priced at S + [000]([0.00%] Floor) | [00.00] OID; and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$[000.0]MM 1L Term Loan Facilities priced at S + [000] (1.00% Floor) |[00.00]% OID | [102 / 101] Call Pro, including a:</a:t>
            </a:r>
          </a:p>
          <a:p>
            <a:pPr marL="354316" lvl="1" indent="-171450"/>
            <a:r>
              <a:rPr lang="en-US" dirty="0"/>
              <a:t>$[000.0MM] 1L TLB</a:t>
            </a:r>
          </a:p>
          <a:p>
            <a:pPr marL="354316" lvl="1" indent="-171450"/>
            <a:r>
              <a:rPr lang="en-US" dirty="0"/>
              <a:t>$[000.0MM] 1L DDTL (together with the [1L TLB], the “Term Loan Facilities”)</a:t>
            </a:r>
          </a:p>
          <a:p>
            <a:pPr lvl="1" indent="0">
              <a:buNone/>
            </a:pPr>
            <a:endParaRPr lang="en-US" dirty="0"/>
          </a:p>
          <a:p>
            <a:r>
              <a:rPr lang="en-US" dirty="0"/>
              <a:t>The transaction is expected to close and fund [].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9386-3104-2C9F-0004-0E7969D5B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2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40EE-B278-B063-8BBC-D9B3B73C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Overview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F820E-1B3C-9A67-CFE2-222A0D85D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AB6-7258-AE7F-CC65-0FCE154FC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0DCB2-750E-2B8A-24A0-1A1E6C52253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C4948-D010-FE9E-A44D-40D580B61F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2234F7-F7EE-6567-FA1B-AA3BC2AF00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Sources &amp; Uses | Pro Forma Capitalization</a:t>
            </a:r>
          </a:p>
        </p:txBody>
      </p:sp>
    </p:spTree>
    <p:extLst>
      <p:ext uri="{BB962C8B-B14F-4D97-AF65-F5344CB8AC3E}">
        <p14:creationId xmlns:p14="http://schemas.microsoft.com/office/powerpoint/2010/main" val="44082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78DD-4B07-6CB4-47F0-145185E0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Overview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94B04-6B8D-2AE9-DEC1-A9B572754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D5D68-398A-1FB2-781B-47E47AD1E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531D6-4A1E-756F-26A5-3DDD44FC1F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2DACE7-8B8D-752A-6F6E-7C0A5057D8B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70090699"/>
              </p:ext>
            </p:extLst>
          </p:nvPr>
        </p:nvGraphicFramePr>
        <p:xfrm>
          <a:off x="136525" y="868363"/>
          <a:ext cx="8915402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822">
                  <a:extLst>
                    <a:ext uri="{9D8B030D-6E8A-4147-A177-3AD203B41FA5}">
                      <a16:colId xmlns:a16="http://schemas.microsoft.com/office/drawing/2014/main" val="2273780132"/>
                    </a:ext>
                  </a:extLst>
                </a:gridCol>
                <a:gridCol w="3888290">
                  <a:extLst>
                    <a:ext uri="{9D8B030D-6E8A-4147-A177-3AD203B41FA5}">
                      <a16:colId xmlns:a16="http://schemas.microsoft.com/office/drawing/2014/main" val="2826564906"/>
                    </a:ext>
                  </a:extLst>
                </a:gridCol>
                <a:gridCol w="3888290">
                  <a:extLst>
                    <a:ext uri="{9D8B030D-6E8A-4147-A177-3AD203B41FA5}">
                      <a16:colId xmlns:a16="http://schemas.microsoft.com/office/drawing/2014/main" val="42354666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Terms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[Sponsor / Mgmt.] ([M/D])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Deal Team Proposal ([M/D])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12416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Facility Size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$[X.X]MM (unfunded at close)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$[X.X]MM (unfunded at close)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0672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OL Commitment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07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Opening Leverage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23735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Pricing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S + [XXX] ([X.XX]% Floor)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S + [XXX] ([X.XX]% Floor)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0211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Fees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Closing: RCF [X.XX]% // 1L TLB &amp; DDTL [X.XX]% (1L TLB 100% upfront // 1L DDTL 50% upfront &amp; 50% at draw, termination, or availability expiration)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Unused: RCF [50] bps p.a. // 1L DDTL [100] bps p.a.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Agency: $[XXX] thousand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Closing: RCF [X.XX]% // 1L TLB &amp; DDTL [X.XX]% (1L TLB 100% upfront // 1L DDTL 50% upfront &amp; 50% at draw, termination, or availability expiration)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Unused: RCF [50] bps p.a. // 1L DDTL [100] bps p.a.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Agency: $[XXX] thousand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621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Maturity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Facilities: 5 Years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 Availability Period: [24] months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Facilities: 5 Years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 Availability Period: [24] months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009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Amortization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n/a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[1.00]%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n/a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[1.00]%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489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ECF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50% ECF w/ two step-downs at [X.XX] and [X.XX]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50% ECF w/ two step-downs at [X.XX] and [X.XX]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215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Call Protection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[102 / 101] HC ([c/o’s for CoC &amp; IPO])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[102 / 101] HC ([c/o’s for CoC &amp; IPO])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985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DDTL Gov.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822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Covenants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Leverage: [X.XX]x TNL (~[X]% cushion to opening leverage w/ [X] stepdowns thru maturity)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FCCR: [X.XX]x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Leverage: [X.XX]x TNL (~[X]% cushion to opening leverage w/ [X] stepdowns thru maturity)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FCCR: [X.XX]x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595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EBITDA Definition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[Call out individual or shared cap adjustments, $ or % caps, pro forma look-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fwd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periods, and / or before or after giving effect calculation methodology, etc.]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[Call out individual or shared cap adjustments, $ or % caps, pro forma look-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fwd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periods, and / or before or after giving effect calculation methodology, etc.]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8382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Other / Misc.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555410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5AEC12-E5E4-223B-7476-EA80B47C36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1L Facility [Sponsor / Mgmt.] [&amp; Overland Indicative Term Sheet Proposal] Summary Terms</a:t>
            </a:r>
          </a:p>
        </p:txBody>
      </p:sp>
    </p:spTree>
    <p:extLst>
      <p:ext uri="{BB962C8B-B14F-4D97-AF65-F5344CB8AC3E}">
        <p14:creationId xmlns:p14="http://schemas.microsoft.com/office/powerpoint/2010/main" val="373742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1E06-FB42-B4E9-6386-F268A490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EBITDA Adjustment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A8B21-7B18-462A-2E3E-8ACD1654E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51813-282D-7B90-2449-463E8A6BB0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8EAAC7-45F7-1BF1-E2B8-ADDCE216F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Pending Receipt of Buyside </a:t>
            </a:r>
            <a:r>
              <a:rPr lang="en-US" b="1" i="1" dirty="0" err="1">
                <a:solidFill>
                  <a:schemeClr val="bg1">
                    <a:lumMod val="50000"/>
                  </a:schemeClr>
                </a:solidFill>
              </a:rPr>
              <a:t>QoE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1A2011-7443-261A-1331-F1E420F44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EBITDA Adjustment Detail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5FA9E4-EFC8-E1C6-2F1F-C147EB13E91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/>
          <a:lstStyle/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[Adjustment] ([+/-]$[X.X]MM):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[X]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23F395-173C-9BE1-EDE0-4E107E5E91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Discussion &amp;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B14F4-9CC9-4BEA-459F-943240F15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2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26D2-FA08-2790-A50E-AD76394C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5" y="136524"/>
            <a:ext cx="8917291" cy="457200"/>
          </a:xfrm>
        </p:spPr>
        <p:txBody>
          <a:bodyPr/>
          <a:lstStyle/>
          <a:p>
            <a:r>
              <a:rPr lang="en-US" dirty="0"/>
              <a:t>Projection Model Case Summaries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B0E24-A4CC-7BC5-B820-BE5208599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EEFD3-3D15-7021-37CF-5CCD304402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F1E09D-FB05-97DE-51FE-B7738270743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865352617"/>
              </p:ext>
            </p:extLst>
          </p:nvPr>
        </p:nvGraphicFramePr>
        <p:xfrm>
          <a:off x="136527" y="639764"/>
          <a:ext cx="8915620" cy="4026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36339512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3808777781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2363775375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4203099838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2823515368"/>
                    </a:ext>
                  </a:extLst>
                </a:gridCol>
              </a:tblGrid>
              <a:tr h="18640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Assumptions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[Sponsor / Mgmt.] Base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Base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Flat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Downside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5643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Revenue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3984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Gross Profit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93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CA EBITDA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95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Taxes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17341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NWC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35544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Capex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5212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Leverage &amp;</a:t>
                      </a:r>
                    </a:p>
                    <a:p>
                      <a:r>
                        <a:rPr lang="en-US" sz="800" b="1" dirty="0"/>
                        <a:t>Liquidity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919608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0FF2D73B-A05A-2D46-9157-ACBB6F807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0169192"/>
              </p:ext>
            </p:extLst>
          </p:nvPr>
        </p:nvGraphicFramePr>
        <p:xfrm>
          <a:off x="136527" y="4747684"/>
          <a:ext cx="8915620" cy="1381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36339512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3808777781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2363775375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775211743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2823515368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808374047"/>
                    </a:ext>
                  </a:extLst>
                </a:gridCol>
              </a:tblGrid>
              <a:tr h="18640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Revenue CAGR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CA EBITDA CAGR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FY’[30]P EBITDA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Max Leverage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Min FCCR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5643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[Mgmt.] Base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dirty="0"/>
                        <a:t>$[X.X]MM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dirty="0"/>
                        <a:t>([X.X]% margin)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3984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Base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9335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Flat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677559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Downside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(FY’[27]P)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95000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3A903C-DB9B-7937-E829-7436A8ECB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0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[Sponsor / Mgmt.] Base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76D4D-BF60-1568-67B4-FFDDA9F04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6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Base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2560-0EEB-FE4E-2740-5CC870A73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0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Flat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01D18-6715-2527-32A4-5117EDDC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9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Downside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2E5B-1F4C-C4C1-34F5-C4C07AC61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4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C59D-7BF9-26BC-0AE0-4664ED9C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Third-Party &amp; Distressed Sale Value Sensitivity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ABD9B-9544-D303-C646-2E89E5114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6B372-6E67-1FED-1AFE-315E5950F0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59F4F39-8EAD-5EE5-2FEB-8F4BA67AB01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08094021"/>
              </p:ext>
            </p:extLst>
          </p:nvPr>
        </p:nvGraphicFramePr>
        <p:xfrm>
          <a:off x="136525" y="868363"/>
          <a:ext cx="8915401" cy="2487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296">
                  <a:extLst>
                    <a:ext uri="{9D8B030D-6E8A-4147-A177-3AD203B41FA5}">
                      <a16:colId xmlns:a16="http://schemas.microsoft.com/office/drawing/2014/main" val="2383482582"/>
                    </a:ext>
                  </a:extLst>
                </a:gridCol>
                <a:gridCol w="1929063">
                  <a:extLst>
                    <a:ext uri="{9D8B030D-6E8A-4147-A177-3AD203B41FA5}">
                      <a16:colId xmlns:a16="http://schemas.microsoft.com/office/drawing/2014/main" val="4069227261"/>
                    </a:ext>
                  </a:extLst>
                </a:gridCol>
                <a:gridCol w="1929063">
                  <a:extLst>
                    <a:ext uri="{9D8B030D-6E8A-4147-A177-3AD203B41FA5}">
                      <a16:colId xmlns:a16="http://schemas.microsoft.com/office/drawing/2014/main" val="314080247"/>
                    </a:ext>
                  </a:extLst>
                </a:gridCol>
                <a:gridCol w="4118979">
                  <a:extLst>
                    <a:ext uri="{9D8B030D-6E8A-4147-A177-3AD203B41FA5}">
                      <a16:colId xmlns:a16="http://schemas.microsoft.com/office/drawing/2014/main" val="106550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Third-Party Report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Vendor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Material Findings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365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Quality of Earnings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1652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Market Study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90553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Tax &amp; Accounting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6479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Legal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31432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Operations &amp; IT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96996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HR, Benefits, &amp; Insurance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96172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ESG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917428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AE68EB-3B2B-0D54-ADAD-7D9C618CA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Third-Party Diligence Report Summary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38E966-1A0B-CF5C-FF62-106373C8C2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Distressed Sale Value Sensitivity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13059-BF63-2653-3369-5A4009278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C3998-542A-AF78-3A5B-1A3F750B94F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98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verland">
      <a:dk1>
        <a:srgbClr val="2E3035"/>
      </a:dk1>
      <a:lt1>
        <a:srgbClr val="FFFFFF"/>
      </a:lt1>
      <a:dk2>
        <a:srgbClr val="00453F"/>
      </a:dk2>
      <a:lt2>
        <a:srgbClr val="F3F3F3"/>
      </a:lt2>
      <a:accent1>
        <a:srgbClr val="49839F"/>
      </a:accent1>
      <a:accent2>
        <a:srgbClr val="1C4A68"/>
      </a:accent2>
      <a:accent3>
        <a:srgbClr val="C5D097"/>
      </a:accent3>
      <a:accent4>
        <a:srgbClr val="328F85"/>
      </a:accent4>
      <a:accent5>
        <a:srgbClr val="9098A4"/>
      </a:accent5>
      <a:accent6>
        <a:srgbClr val="5D616C"/>
      </a:accent6>
      <a:hlink>
        <a:srgbClr val="49839F"/>
      </a:hlink>
      <a:folHlink>
        <a:srgbClr val="328F8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BGID xmlns="dc6d7f3b-2388-4907-95e9-67fe6707918b" xsi:nil="true"/>
    <Analyst xmlns="dc6d7f3b-2388-4907-95e9-67fe6707918b">
      <UserInfo>
        <DisplayName/>
        <AccountId xsi:nil="true"/>
        <AccountType/>
      </UserInfo>
    </Analyst>
    <OtherName xmlns="dc6d7f3b-2388-4907-95e9-67fe6707918b" xsi:nil="true"/>
    <TaxCatchAll xmlns="5adca3f6-50e5-45d3-816d-7d8e2e1aafa3" xsi:nil="true"/>
    <lcf76f155ced4ddcb4097134ff3c332f xmlns="dc6d7f3b-2388-4907-95e9-67fe6707918b">
      <Terms xmlns="http://schemas.microsoft.com/office/infopath/2007/PartnerControls"/>
    </lcf76f155ced4ddcb4097134ff3c332f>
    <LoanXID xmlns="dc6d7f3b-2388-4907-95e9-67fe6707918b" xsi:nil="true"/>
  </documentManagement>
</p:properties>
</file>

<file path=customXml/item2.xml><?xml version="1.0" encoding="utf-8"?>
<BBSettings xmlns="http://schemas.bloomberg.com/settings/1.0">
  <Item name="DocumentId_Charts">{0C8D38E9-9E7C-4B39-B781-AEDE039A821B}</Item>
  <Item xmlns="" name="ShapesMap_Charts">{"{0C8D38E9-9E7C-4B39-B781-AEDE039A821B}":{"258":{},"259":{},"261":{},"271":{},"272":{},"273":{},"275":{},"276":{},"277":{},"278":{},"280":{},"281":{},"284":{},"285":{},"286":{},"288":{},"290":{},"291":{},"292":{},"293":{},"294":{},"295":{},"298":{},"299":{},"300":{},"301":{},"302":{},"303":{},"304":{},"306":{},"309":{},"311":{},"312":{},"313":{},"314":{},"315":{},"316":{},"317":{},"318":{},"319":{},"320":{},"321":{},"322":{}}}</Item>
</BBSetting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5D7B6EDD6B944996098F92CD81FE4" ma:contentTypeVersion="20" ma:contentTypeDescription="Create a new document." ma:contentTypeScope="" ma:versionID="c2fbab9bba8e931dae7869dce07a7632">
  <xsd:schema xmlns:xsd="http://www.w3.org/2001/XMLSchema" xmlns:xs="http://www.w3.org/2001/XMLSchema" xmlns:p="http://schemas.microsoft.com/office/2006/metadata/properties" xmlns:ns2="dc6d7f3b-2388-4907-95e9-67fe6707918b" xmlns:ns3="5adca3f6-50e5-45d3-816d-7d8e2e1aafa3" targetNamespace="http://schemas.microsoft.com/office/2006/metadata/properties" ma:root="true" ma:fieldsID="7f9b71cf218f09fb69a31198b8827546" ns2:_="" ns3:_="">
    <xsd:import namespace="dc6d7f3b-2388-4907-95e9-67fe6707918b"/>
    <xsd:import namespace="5adca3f6-50e5-45d3-816d-7d8e2e1aaf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oanXID" minOccurs="0"/>
                <xsd:element ref="ns2:BBGID" minOccurs="0"/>
                <xsd:element ref="ns2:OtherName" minOccurs="0"/>
                <xsd:element ref="ns2:Analyst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d7f3b-2388-4907-95e9-67fe67079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anXID" ma:index="14" nillable="true" ma:displayName="LoanXID" ma:format="Dropdown" ma:internalName="LoanXID">
      <xsd:simpleType>
        <xsd:restriction base="dms:Text">
          <xsd:maxLength value="255"/>
        </xsd:restriction>
      </xsd:simpleType>
    </xsd:element>
    <xsd:element name="BBGID" ma:index="15" nillable="true" ma:displayName="BBG ID" ma:format="Dropdown" ma:internalName="BBGID">
      <xsd:simpleType>
        <xsd:restriction base="dms:Text">
          <xsd:maxLength value="255"/>
        </xsd:restriction>
      </xsd:simpleType>
    </xsd:element>
    <xsd:element name="OtherName" ma:index="16" nillable="true" ma:displayName="Other Name" ma:format="Dropdown" ma:internalName="OtherName">
      <xsd:simpleType>
        <xsd:restriction base="dms:Text">
          <xsd:maxLength value="255"/>
        </xsd:restriction>
      </xsd:simpleType>
    </xsd:element>
    <xsd:element name="Analyst" ma:index="17" nillable="true" ma:displayName="Analyst" ma:format="Dropdown" ma:list="UserInfo" ma:SharePointGroup="0" ma:internalName="Analyst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79f4741-edd0-46e2-ac4d-1126041b5b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6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ca3f6-50e5-45d3-816d-7d8e2e1aafa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46f4493-59bb-4c92-aa70-2de8333e7a5a}" ma:internalName="TaxCatchAll" ma:showField="CatchAllData" ma:web="5adca3f6-50e5-45d3-816d-7d8e2e1aaf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AA107E-2269-48DD-A906-07361A75AEA6}">
  <ds:schemaRefs>
    <ds:schemaRef ds:uri="http://schemas.microsoft.com/office/2006/metadata/properties"/>
    <ds:schemaRef ds:uri="http://www.w3.org/2000/xmlns/"/>
    <ds:schemaRef ds:uri="dc6d7f3b-2388-4907-95e9-67fe6707918b"/>
    <ds:schemaRef ds:uri="http://www.w3.org/2001/XMLSchema-instance"/>
    <ds:schemaRef ds:uri="5adca3f6-50e5-45d3-816d-7d8e2e1aafa3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BBF83F-1AC5-4CE1-84DE-3901016CF1A5}">
  <ds:schemaRefs>
    <ds:schemaRef ds:uri="http://schemas.bloomberg.com/settings/1.0"/>
    <ds:schemaRef ds:uri=""/>
  </ds:schemaRefs>
</ds:datastoreItem>
</file>

<file path=customXml/itemProps3.xml><?xml version="1.0" encoding="utf-8"?>
<ds:datastoreItem xmlns:ds="http://schemas.openxmlformats.org/officeDocument/2006/customXml" ds:itemID="{32DD0D28-9B7D-4139-A7DC-60E44885BD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6d7f3b-2388-4907-95e9-67fe6707918b"/>
    <ds:schemaRef ds:uri="5adca3f6-50e5-45d3-816d-7d8e2e1aaf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C04A990-30DD-4C09-82F2-83B94FEB77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</TotalTime>
  <Words>2010</Words>
  <Application>Microsoft Office PowerPoint</Application>
  <PresentationFormat>On-screen Show (4:3)</PresentationFormat>
  <Paragraphs>277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[Company Name] Overland IC Screening Memo Sponsor [A] Addendum [Month D, YYYY]</vt:lpstr>
      <vt:lpstr>Executive Summary</vt:lpstr>
      <vt:lpstr>Transaction Overview (1/2)</vt:lpstr>
      <vt:lpstr>Transaction Overview (2/2)</vt:lpstr>
      <vt:lpstr>EBITDA Adjustment Summary</vt:lpstr>
      <vt:lpstr>Projection Model Case Summaries</vt:lpstr>
      <vt:lpstr>[Sponsor / Mgmt.] Base Case</vt:lpstr>
      <vt:lpstr>Overland Base Case</vt:lpstr>
      <vt:lpstr>Overland Flat Case</vt:lpstr>
      <vt:lpstr>Overland Downside Case</vt:lpstr>
      <vt:lpstr>Third-Party &amp; Distressed Sale Value Sensitivity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[Company Name] Overland IC Screening Memo [Month D, YYYY]  Deal Team: [F., Last], [F., Last], [F., Last]</dc:title>
  <dc:creator>Jamie Anderson</dc:creator>
  <cp:lastModifiedBy>Gormley, Ryan</cp:lastModifiedBy>
  <cp:revision>5</cp:revision>
  <cp:lastPrinted>2024-10-29T21:57:58Z</cp:lastPrinted>
  <dcterms:created xsi:type="dcterms:W3CDTF">2024-10-29T14:09:39Z</dcterms:created>
  <dcterms:modified xsi:type="dcterms:W3CDTF">2026-02-11T14:32:44Z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0x0101000CD5D7B6EDD6B944996098F92CD81FE4</vt:lpwstr>
  </property>
  <property fmtid="{D5CDD505-2E9C-101B-9397-08002B2CF9AE}" pid="3" name="MediaServiceImageTags">
    <vt:lpwstr/>
  </property>
</Properties>
</file>